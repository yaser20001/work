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91695" cy="381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P&amp;ID VISION ANALYZER</a:t>
            </a:r>
          </a:p>
          <a:p>
            <a:pPr algn="l">
              <a:spcAft>
                <a:spcPts val="400"/>
              </a:spcAft>
              <a:defRPr sz="2200" b="0">
                <a:solidFill>
                  <a:srgbClr val="4A90D9"/>
                </a:solidFill>
                <a:latin typeface="Calibri"/>
              </a:defRPr>
            </a:pPr>
            <a:r>
              <a:t>AI-Powered Piping &amp; Instrumentation Diagram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A0B5CC"/>
                </a:solidFill>
                <a:latin typeface="Calibri"/>
              </a:defRPr>
            </a:pPr>
            <a:r>
              <a:t>Powered by Google Gemini 2.5 Flash Vision AI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70859C"/>
                </a:solidFill>
                <a:latin typeface="Calibri"/>
              </a:defRPr>
            </a:pPr>
            <a:r>
              <a:t>ISA-5.1 Compliant  |  11-Phase Expert Analysis Pipeline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2800" b="1">
                <a:solidFill>
                  <a:srgbClr val="C8A951"/>
                </a:solidFill>
                <a:latin typeface="Calibri"/>
              </a:defRPr>
            </a:pPr>
            <a:r>
              <a:t>KBR-AMCDE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0A5BC"/>
                </a:solidFill>
                <a:latin typeface="Calibri"/>
              </a:defRPr>
            </a:pPr>
            <a:r>
              <a:t>Engineering &amp; Project Management Excellence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1097280"/>
            <a:ext cx="1645920" cy="41148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0" y="11155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A951"/>
                </a:solidFill>
                <a:latin typeface="Calibri"/>
              </a:defRPr>
            </a:pPr>
            <a:r>
              <a:t>VERSION 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6070"/>
                </a:solidFill>
                <a:latin typeface="Calibri"/>
              </a:defRPr>
            </a:pPr>
            <a:r>
              <a:t>CONFIDENTIAL  —  For Internal KBR-AMCDE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A951"/>
                </a:solidFill>
                <a:latin typeface="Calibri"/>
              </a:defRPr>
            </a:pPr>
            <a:r>
              <a:t>Why Manual P&amp;ID Data Extraction is Failing the Industry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600" b="1">
                <a:solidFill>
                  <a:srgbClr val="1A2332"/>
                </a:solidFill>
                <a:latin typeface="Calibri"/>
              </a:defRPr>
            </a:pPr>
            <a:r>
              <a:t>Time-Intensive Manual Process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5A6A7E"/>
                </a:solidFill>
                <a:latin typeface="Calibri"/>
              </a:defRPr>
            </a:pPr>
            <a:r>
              <a:t>A single P&amp;ID drawing can contain 50-200+ valves, 30-100+ instruments, and dozens of piping lines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5A6A7E"/>
                </a:solidFill>
                <a:latin typeface="Calibri"/>
              </a:defRPr>
            </a:pPr>
            <a:r>
              <a:t>Manual data extraction takes 4-8 hours per drawing by experienced engineers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600" b="1">
                <a:solidFill>
                  <a:srgbClr val="1A2332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1600" b="1">
                <a:solidFill>
                  <a:srgbClr val="1A2332"/>
                </a:solidFill>
                <a:latin typeface="Calibri"/>
              </a:defRPr>
            </a:pPr>
            <a:r>
              <a:t>Human Error is Unavoidable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5A6A7E"/>
                </a:solidFill>
                <a:latin typeface="Calibri"/>
              </a:defRPr>
            </a:pPr>
            <a:r>
              <a:t>Small drain/vent valves are commonly missed — up to 15-20% undercounting is typical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5A6A7E"/>
                </a:solidFill>
                <a:latin typeface="Calibri"/>
              </a:defRPr>
            </a:pPr>
            <a:r>
              <a:t>ISA-5.1 instrument tag decoding is complex and error-prone under time pressure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5A6A7E"/>
                </a:solidFill>
                <a:latin typeface="Calibri"/>
              </a:defRPr>
            </a:pPr>
            <a:r>
              <a:t>Transcription errors in tag numbers, sizes, and specifications cause downstream issues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600" b="1">
                <a:solidFill>
                  <a:srgbClr val="1A2332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1600" b="1">
                <a:solidFill>
                  <a:srgbClr val="1A2332"/>
                </a:solidFill>
                <a:latin typeface="Calibri"/>
              </a:defRPr>
            </a:pPr>
            <a:r>
              <a:t>Resource Bottleneck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5A6A7E"/>
                </a:solidFill>
                <a:latin typeface="Calibri"/>
              </a:defRPr>
            </a:pPr>
            <a:r>
              <a:t>Requires senior engineers with P&amp;ID reading expertise — a scarce resource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5A6A7E"/>
                </a:solidFill>
                <a:latin typeface="Calibri"/>
              </a:defRPr>
            </a:pPr>
            <a:r>
              <a:t>Multiple review cycles needed to verify accuracy, adding weeks to project schedules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600" b="1">
                <a:solidFill>
                  <a:srgbClr val="1A2332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1600" b="1">
                <a:solidFill>
                  <a:srgbClr val="1A2332"/>
                </a:solidFill>
                <a:latin typeface="Calibri"/>
              </a:defRPr>
            </a:pPr>
            <a:r>
              <a:t>No Standardized Digital Output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5A6A7E"/>
                </a:solidFill>
                <a:latin typeface="Calibri"/>
              </a:defRPr>
            </a:pPr>
            <a:r>
              <a:t>Data ends up in spreadsheets with inconsistent formatting between engineers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5A6A7E"/>
                </a:solidFill>
                <a:latin typeface="Calibri"/>
              </a:defRPr>
            </a:pPr>
            <a:r>
              <a:t>No automated connection between P&amp;ID analysis and engineering databases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64592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D97706"/>
                </a:solidFill>
                <a:latin typeface="Calibri"/>
              </a:defRPr>
            </a:pPr>
            <a:r>
              <a:t>INDUSTRY IMPACT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1A2332"/>
                </a:solidFill>
                <a:latin typeface="Calibri"/>
              </a:defRPr>
            </a:pPr>
          </a:p>
          <a:p>
            <a:pPr algn="ctr">
              <a:spcAft>
                <a:spcPts val="400"/>
              </a:spcAft>
              <a:defRPr sz="3600" b="1">
                <a:solidFill>
                  <a:srgbClr val="C52A2A"/>
                </a:solidFill>
                <a:latin typeface="Calibri"/>
              </a:defRPr>
            </a:pPr>
            <a:r>
              <a:t>4-8 hrs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1A2332"/>
                </a:solidFill>
                <a:latin typeface="Calibri"/>
              </a:defRPr>
            </a:pPr>
            <a:r>
              <a:t>per drawing for manual extraction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1A2332"/>
                </a:solidFill>
                <a:latin typeface="Calibri"/>
              </a:defRPr>
            </a:pPr>
          </a:p>
          <a:p>
            <a:pPr algn="ctr">
              <a:spcAft>
                <a:spcPts val="400"/>
              </a:spcAft>
              <a:defRPr sz="3600" b="1">
                <a:solidFill>
                  <a:srgbClr val="C52A2A"/>
                </a:solidFill>
                <a:latin typeface="Calibri"/>
              </a:defRPr>
            </a:pPr>
            <a:r>
              <a:t>15-20%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1A2332"/>
                </a:solidFill>
                <a:latin typeface="Calibri"/>
              </a:defRPr>
            </a:pPr>
            <a:r>
              <a:t>typical valve undercount rate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1A2332"/>
                </a:solidFill>
                <a:latin typeface="Calibri"/>
              </a:defRPr>
            </a:pPr>
          </a:p>
          <a:p>
            <a:pPr algn="ctr">
              <a:spcAft>
                <a:spcPts val="400"/>
              </a:spcAft>
              <a:defRPr sz="3600" b="1">
                <a:solidFill>
                  <a:srgbClr val="D97706"/>
                </a:solidFill>
                <a:latin typeface="Calibri"/>
              </a:defRPr>
            </a:pPr>
            <a:r>
              <a:t>3-5x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1A2332"/>
                </a:solidFill>
                <a:latin typeface="Calibri"/>
              </a:defRPr>
            </a:pPr>
            <a:r>
              <a:t>review cycles for verification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090A0"/>
                </a:solidFill>
                <a:latin typeface="Calibri"/>
              </a:defRPr>
            </a:pPr>
            <a:r>
              <a:t>KBR-AMCDE  |  P&amp;ID Vision Analyzer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90A0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A951"/>
                </a:solidFill>
                <a:latin typeface="Calibri"/>
              </a:defRPr>
            </a:pPr>
            <a:r>
              <a:t>AI-Powered P&amp;ID Analysis with 11-Phase Expert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1A2332"/>
                </a:solidFill>
                <a:latin typeface="Calibri"/>
              </a:defRPr>
            </a:pPr>
            <a:r>
              <a:t>P&amp;ID Vision Analyzer uses Google Gemini 2.5 Flash Vision AI — a state-of-the-art multimodal AI model — to read, analyze, and extract every engineering element from P&amp;ID drawings with expert-level accuracy.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33832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3383280" cy="635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11680" y="2743200"/>
            <a:ext cx="731520" cy="731520"/>
          </a:xfrm>
          <a:prstGeom prst="ellips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27889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A70"/>
                </a:solidFill>
                <a:latin typeface="Calibri"/>
              </a:defRPr>
            </a:pPr>
            <a:r>
              <a:t>VISION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77639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6A7E"/>
                </a:solidFill>
                <a:latin typeface="Calibri"/>
              </a:defRPr>
            </a:pPr>
            <a:r>
              <a:t>Gemini 2.5 Flash reads the</a:t>
            </a:r>
            <a:br/>
            <a:r>
              <a:t>drawing like a senior engineer</a:t>
            </a:r>
            <a:br/>
            <a:r>
              <a:t>— identifying symbols, text,</a:t>
            </a:r>
            <a:br/>
            <a:r>
              <a:t>and spatial relationships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2560320"/>
            <a:ext cx="33832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59" y="2560320"/>
            <a:ext cx="3383280" cy="63500"/>
          </a:xfrm>
          <a:prstGeom prst="rect">
            <a:avLst/>
          </a:prstGeom>
          <a:solidFill>
            <a:srgbClr val="1A5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60719" y="2743200"/>
            <a:ext cx="731520" cy="731520"/>
          </a:xfrm>
          <a:prstGeom prst="ellipse">
            <a:avLst/>
          </a:prstGeom>
          <a:solidFill>
            <a:srgbClr val="1A5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19" y="27889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39" y="35661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5091"/>
                </a:solidFill>
                <a:latin typeface="Calibri"/>
              </a:defRPr>
            </a:pPr>
            <a:r>
              <a:t>11-PHASE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39" y="3977639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6A7E"/>
                </a:solidFill>
                <a:latin typeface="Calibri"/>
              </a:defRPr>
            </a:pPr>
            <a:r>
              <a:t>Sequential expert analysis</a:t>
            </a:r>
            <a:br/>
            <a:r>
              <a:t>from document context through</a:t>
            </a:r>
            <a:br/>
            <a:r>
              <a:t>verification — each phase</a:t>
            </a:r>
            <a:br/>
            <a:r>
              <a:t>builds on previous results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560320"/>
            <a:ext cx="33832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2560320"/>
            <a:ext cx="3383280" cy="63500"/>
          </a:xfrm>
          <a:prstGeom prst="rect">
            <a:avLst/>
          </a:prstGeom>
          <a:solidFill>
            <a:srgbClr val="0D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09760" y="2743200"/>
            <a:ext cx="731520" cy="731520"/>
          </a:xfrm>
          <a:prstGeom prst="ellipse">
            <a:avLst/>
          </a:prstGeom>
          <a:solidFill>
            <a:srgbClr val="0D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27889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5661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8A4A"/>
                </a:solidFill>
                <a:latin typeface="Calibri"/>
              </a:defRPr>
            </a:pPr>
            <a:r>
              <a:t>ISA-5.1 KNOWLEDGE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977639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6A7E"/>
                </a:solidFill>
                <a:latin typeface="Calibri"/>
              </a:defRPr>
            </a:pPr>
            <a:r>
              <a:t>Built-in engineering knowledge</a:t>
            </a:r>
            <a:br/>
            <a:r>
              <a:t>base for instrument decoding,</a:t>
            </a:r>
            <a:br/>
            <a:r>
              <a:t>valve classification, piping</a:t>
            </a:r>
            <a:br/>
            <a:r>
              <a:t>service codes, and standards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090A0"/>
                </a:solidFill>
                <a:latin typeface="Calibri"/>
              </a:defRPr>
            </a:pPr>
            <a:r>
              <a:t>KBR-AMCDE  |  P&amp;ID Vision Analyzer  | 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90A0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A951"/>
                </a:solidFill>
                <a:latin typeface="Calibri"/>
              </a:defRPr>
            </a:pPr>
            <a:r>
              <a:t>11-Phase Sequential Analysis Pipeline — Each Phase is an Expert AI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3500" cy="15087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630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A7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463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32"/>
                </a:solidFill>
                <a:latin typeface="Calibri"/>
              </a:defRPr>
            </a:pPr>
            <a:r>
              <a:t>Document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288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Title block, design data,</a:t>
            </a:r>
            <a:br/>
            <a:r>
              <a:t>references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3716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371600"/>
            <a:ext cx="63500" cy="15087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4630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A7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1463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32"/>
                </a:solidFill>
                <a:latin typeface="Calibri"/>
              </a:defRPr>
            </a:pPr>
            <a:r>
              <a:t>Legend &amp; Symbols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18288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Symbol key, line types,</a:t>
            </a:r>
            <a:br/>
            <a:r>
              <a:t>abbreviations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63500" cy="15087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14630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A7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1463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32"/>
                </a:solidFill>
                <a:latin typeface="Calibri"/>
              </a:defRPr>
            </a:pPr>
            <a:r>
              <a:t>Notes Extraction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8288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Word-for-word engineering</a:t>
            </a:r>
            <a:br/>
            <a:r>
              <a:t>notes capture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3716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1371600"/>
            <a:ext cx="63500" cy="15087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8008" y="14630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A7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1463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32"/>
                </a:solidFill>
                <a:latin typeface="Calibri"/>
              </a:defRPr>
            </a:pPr>
            <a:r>
              <a:t>Equipment Scan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18288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All vessels, pumps, HX,</a:t>
            </a:r>
            <a:br/>
            <a:r>
              <a:t>compressors, filters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0632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063240"/>
            <a:ext cx="63500" cy="15087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1546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A7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3154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32"/>
                </a:solidFill>
                <a:latin typeface="Calibri"/>
              </a:defRPr>
            </a:pPr>
            <a:r>
              <a:t>Valve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520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Every valve identified &amp;</a:t>
            </a:r>
            <a:br/>
            <a:r>
              <a:t>classified by type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30632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37560" y="3063240"/>
            <a:ext cx="63500" cy="15087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47288" y="31546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A70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3154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32"/>
                </a:solidFill>
                <a:latin typeface="Calibri"/>
              </a:defRPr>
            </a:pPr>
            <a:r>
              <a:t>Instrumentation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3520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ISA-5.1 tag decoding,</a:t>
            </a:r>
            <a:br/>
            <a:r>
              <a:t>mounting, setpoints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0632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3063240"/>
            <a:ext cx="63500" cy="15087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31546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A70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3154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32"/>
                </a:solidFill>
                <a:latin typeface="Calibri"/>
              </a:defRPr>
            </a:pPr>
            <a:r>
              <a:t>Piping Analysis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520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Line numbers, sizes, specs,</a:t>
            </a:r>
            <a:br/>
            <a:r>
              <a:t>service codes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98280" y="30632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98280" y="3063240"/>
            <a:ext cx="63500" cy="15087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08008" y="31546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A70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3154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32"/>
                </a:solidFill>
                <a:latin typeface="Calibri"/>
              </a:defRPr>
            </a:pPr>
            <a:r>
              <a:t>Connections &amp; Flow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3520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Process flow mapping,</a:t>
            </a:r>
            <a:br/>
            <a:r>
              <a:t>utility connections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75488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4754880"/>
            <a:ext cx="63500" cy="15087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" y="48463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A70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" y="4846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32"/>
                </a:solidFill>
                <a:latin typeface="Calibri"/>
              </a:defRPr>
            </a:pPr>
            <a:r>
              <a:t>Safety Analysis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" y="52120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Gas detection, ESD, relief,</a:t>
            </a:r>
            <a:br/>
            <a:r>
              <a:t>area classification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37560" y="475488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337560" y="4754880"/>
            <a:ext cx="63500" cy="150876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47288" y="48463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A951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40480" y="4846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32"/>
                </a:solidFill>
                <a:latin typeface="Calibri"/>
              </a:defRPr>
            </a:pPr>
            <a:r>
              <a:t>Verification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40480" y="52120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Region-by-region recount</a:t>
            </a:r>
            <a:br/>
            <a:r>
              <a:t>&amp; summary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475488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17920" y="4754880"/>
            <a:ext cx="63500" cy="1508760"/>
          </a:xfrm>
          <a:prstGeom prst="rect">
            <a:avLst/>
          </a:prstGeom>
          <a:solidFill>
            <a:srgbClr val="0D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27648" y="48463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8A4A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20840" y="4846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32"/>
                </a:solidFill>
                <a:latin typeface="Calibri"/>
              </a:defRPr>
            </a:pPr>
            <a:r>
              <a:t>Re-Verification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20840" y="52120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Independent final pass</a:t>
            </a:r>
            <a:br/>
            <a:r>
              <a:t>&amp; corrections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0" y="48463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Each phase sends the P&amp;ID image with a specialized prompt to Gemini 2.5 Flash Vision AI.</a:t>
            </a:r>
            <a:br/>
            <a:br/>
            <a:r>
              <a:t>Results are parsed into structured JSON and cross-verified across phases.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090A0"/>
                </a:solidFill>
                <a:latin typeface="Calibri"/>
              </a:defRPr>
            </a:pPr>
            <a:r>
              <a:t>KBR-AMCDE  |  P&amp;ID Vision Analyzer  |  Confidential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90A0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A951"/>
                </a:solidFill>
                <a:latin typeface="Calibri"/>
              </a:defRPr>
            </a:pPr>
            <a:r>
              <a:t>What the System Extracts and Delivers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94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394960" cy="508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A70"/>
                </a:solidFill>
                <a:latin typeface="Calibri"/>
              </a:defRPr>
            </a:pPr>
            <a:r>
              <a:t>Equipment Identification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E"/>
                </a:solidFill>
                <a:latin typeface="Calibri"/>
              </a:defRPr>
            </a:pPr>
            <a:r>
              <a:t>Vessels, Drums, Tanks, Heat Exchangers, Pumps, Compressors, Columns, Reactors, Filters — with tag numbers, types, sizes, and connections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394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94960" cy="50800"/>
          </a:xfrm>
          <a:prstGeom prst="rect">
            <a:avLst/>
          </a:prstGeom>
          <a:solidFill>
            <a:srgbClr val="1A5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091"/>
                </a:solidFill>
                <a:latin typeface="Calibri"/>
              </a:defRPr>
            </a:pPr>
            <a:r>
              <a:t>Valve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745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E"/>
                </a:solidFill>
                <a:latin typeface="Calibri"/>
              </a:defRPr>
            </a:pPr>
            <a:r>
              <a:t>Gate, Globe, Ball, Plug, Butterfly, Check, Control, Relief, MOV, Needle — with actuator type, normal/fail positions, line assignments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71800"/>
            <a:ext cx="5394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71800"/>
            <a:ext cx="5394960" cy="50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1089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0D9"/>
                </a:solidFill>
                <a:latin typeface="Calibri"/>
              </a:defRPr>
            </a:pPr>
            <a:r>
              <a:t>ISA-5.1 Instrument Decoding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747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E"/>
                </a:solidFill>
                <a:latin typeface="Calibri"/>
              </a:defRPr>
            </a:pPr>
            <a:r>
              <a:t>Full tag decoding (FIT-0210 → Flow Indicating Transmitter), mounting type from symbol shape, setpoints (H/HH/L/LL), DCS/SIS assignment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971800"/>
            <a:ext cx="5394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971800"/>
            <a:ext cx="5394960" cy="50800"/>
          </a:xfrm>
          <a:prstGeom prst="rect">
            <a:avLst/>
          </a:prstGeom>
          <a:solidFill>
            <a:srgbClr val="0D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1089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8A4A"/>
                </a:solidFill>
                <a:latin typeface="Calibri"/>
              </a:defRPr>
            </a:pPr>
            <a:r>
              <a:t>Piping Line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4747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E"/>
                </a:solidFill>
                <a:latin typeface="Calibri"/>
              </a:defRPr>
            </a:pPr>
            <a:r>
              <a:t>Line number decoding (24"-P-0001-3CS1P06), service codes, specs, from/to routing, special items (orifice plates, spectacle blinds)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72000"/>
            <a:ext cx="5394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572000"/>
            <a:ext cx="5394960" cy="50800"/>
          </a:xfrm>
          <a:prstGeom prst="rect">
            <a:avLst/>
          </a:prstGeom>
          <a:solidFill>
            <a:srgbClr val="C5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09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52A2A"/>
                </a:solidFill>
                <a:latin typeface="Calibri"/>
              </a:defRPr>
            </a:pPr>
            <a:r>
              <a:t>Safety &amp; Hazard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749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E"/>
                </a:solidFill>
                <a:latin typeface="Calibri"/>
              </a:defRPr>
            </a:pPr>
            <a:r>
              <a:t>Gas detection (H2S, LEL), ESD valves, relief devices with set pressures, area classification (Class/Division/Zone)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572000"/>
            <a:ext cx="5394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572000"/>
            <a:ext cx="5394960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709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A951"/>
                </a:solidFill>
                <a:latin typeface="Calibri"/>
              </a:defRPr>
            </a:pPr>
            <a:r>
              <a:t>AI Engineering Assistant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0749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E"/>
                </a:solidFill>
                <a:latin typeface="Calibri"/>
              </a:defRPr>
            </a:pPr>
            <a:r>
              <a:t>Natural language Q&amp;A about the analyzed drawing — ask any engineering question and get expert-level answers with full context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090A0"/>
                </a:solidFill>
                <a:latin typeface="Calibri"/>
              </a:defRPr>
            </a:pPr>
            <a:r>
              <a:t>KBR-AMCDE  |  P&amp;ID Vision Analyzer  | 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90A0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PROFESSIONAL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A951"/>
                </a:solidFill>
                <a:latin typeface="Calibri"/>
              </a:defRPr>
            </a:pPr>
            <a:r>
              <a:t>Enterprise-Grade Deliverables Ready for Engineering 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20440" cy="508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0" y="1508760"/>
            <a:ext cx="1234440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5087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A5091"/>
                </a:solidFill>
                <a:latin typeface="Calibri"/>
              </a:defRPr>
            </a:pPr>
            <a:r>
              <a:t>Web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A70"/>
                </a:solidFill>
                <a:latin typeface="Calibri"/>
              </a:defRPr>
            </a:pPr>
            <a:r>
              <a:t>Executive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Real-time KPI dashboard with donut charts, design data panel, equipment register, piping schedule, safety status — print-ready for management reports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37160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371600"/>
            <a:ext cx="3520440" cy="508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508760"/>
            <a:ext cx="1234440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5087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A5091"/>
                </a:solidFill>
                <a:latin typeface="Calibri"/>
              </a:defRPr>
            </a:pPr>
            <a:r>
              <a:t>Excel (.xlsx)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A70"/>
                </a:solidFill>
                <a:latin typeface="Calibri"/>
              </a:defRPr>
            </a:pPr>
            <a:r>
              <a:t>Mechanical Equipment 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9659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Professional Excel spreadsheet following KBR corporate format — 18 columns including tag breakdown, design data, materials, and power requirements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37160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371600"/>
            <a:ext cx="3520440" cy="508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149840" y="1508760"/>
            <a:ext cx="1234440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40" y="15087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A5091"/>
                </a:solidFill>
                <a:latin typeface="Calibri"/>
              </a:defRPr>
            </a:pPr>
            <a:r>
              <a:t>Excel (.xlsx)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A70"/>
                </a:solidFill>
                <a:latin typeface="Calibri"/>
              </a:defRPr>
            </a:pPr>
            <a:r>
              <a:t>Valve 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9659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Saudi Aramco 2616-ENG standard format — 12 columns covering tag number, size/rating, valve type, actuator, pressures, positions, and datasheet references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49039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749039"/>
            <a:ext cx="3520440" cy="508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0" y="3886199"/>
            <a:ext cx="1234440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0" y="388619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A5091"/>
                </a:solidFill>
                <a:latin typeface="Calibri"/>
              </a:defRPr>
            </a:pPr>
            <a:r>
              <a:t>Excel (.xlsx)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93191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A70"/>
                </a:solidFill>
                <a:latin typeface="Calibri"/>
              </a:defRPr>
            </a:pPr>
            <a:r>
              <a:t>Piping Line 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343399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Complete piping schedule — 16 columns with line number decoding, service codes, piping specs, from/to routing, and material specifications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3749039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51960" y="3749039"/>
            <a:ext cx="3520440" cy="508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5080" y="3886199"/>
            <a:ext cx="1234440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88619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A5091"/>
                </a:solidFill>
                <a:latin typeface="Calibri"/>
              </a:defRPr>
            </a:pPr>
            <a:r>
              <a:t>JSON 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393191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A70"/>
                </a:solidFill>
                <a:latin typeface="Calibri"/>
              </a:defRPr>
            </a:pPr>
            <a:r>
              <a:t>JSON Data Export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343399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Complete structured analysis data in JSON format for integration with engineering databases, PDMS, or custom tools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0" y="3749039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46720" y="3749039"/>
            <a:ext cx="3520440" cy="508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9840" y="3886199"/>
            <a:ext cx="1234440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49840" y="388619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A5091"/>
                </a:solidFill>
                <a:latin typeface="Calibri"/>
              </a:defRPr>
            </a:pPr>
            <a:r>
              <a:t>Web Chat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93191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A70"/>
                </a:solidFill>
                <a:latin typeface="Calibri"/>
              </a:defRPr>
            </a:pPr>
            <a:r>
              <a:t>AI Q&amp;A Interface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343399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Interactive engineering assistant — ask any question about the P&amp;ID and get expert-level answers with context from all 11 analysis phases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090A0"/>
                </a:solidFill>
                <a:latin typeface="Calibri"/>
              </a:defRPr>
            </a:pPr>
            <a:r>
              <a:t>KBR-AMCDE  |  P&amp;ID Vision Analyzer  |  Confidential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90A0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BEFORE vs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A951"/>
                </a:solidFill>
                <a:latin typeface="Calibri"/>
              </a:defRPr>
            </a:pPr>
            <a:r>
              <a:t>Quantified Impact on Engineering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solidFill>
            <a:srgbClr val="C5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9903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BEFORE — Manual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1D1D"/>
                </a:solidFill>
                <a:latin typeface="Calibri"/>
              </a:defRPr>
            </a:pPr>
            <a:r>
              <a:t>✗  4-8 hours per P&amp;ID drawing for data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871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1D1D"/>
                </a:solidFill>
                <a:latin typeface="Calibri"/>
              </a:defRPr>
            </a:pPr>
            <a:r>
              <a:t>✗  15-20% valve undercount rate (drain/vent valves missed)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6265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1D1D"/>
                </a:solidFill>
                <a:latin typeface="Calibri"/>
              </a:defRPr>
            </a:pPr>
            <a:r>
              <a:t>✗  Requires senior engineers with P&amp;ID expertise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3814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1D1D"/>
                </a:solidFill>
                <a:latin typeface="Calibri"/>
              </a:defRPr>
            </a:pPr>
            <a:r>
              <a:t>✗  3-5 review cycles to verify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136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1D1D"/>
                </a:solidFill>
                <a:latin typeface="Calibri"/>
              </a:defRPr>
            </a:pPr>
            <a:r>
              <a:t>✗  Inconsistent spreadsheet formats between engineers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89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1D1D"/>
                </a:solidFill>
                <a:latin typeface="Calibri"/>
              </a:defRPr>
            </a:pPr>
            <a:r>
              <a:t>✗  No automated ISA-5.1 tag decoding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646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1D1D"/>
                </a:solidFill>
                <a:latin typeface="Calibri"/>
              </a:defRPr>
            </a:pPr>
            <a:r>
              <a:t>✗  No standardized digital output for databases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4009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1D1D"/>
                </a:solidFill>
                <a:latin typeface="Calibri"/>
              </a:defRPr>
            </a:pPr>
            <a:r>
              <a:t>✗  Risk of transcription errors in critical safety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solidFill>
            <a:srgbClr val="0D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39903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AFTER — AI-Powered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11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5F2F"/>
                </a:solidFill>
                <a:latin typeface="Calibri"/>
              </a:defRPr>
            </a:pPr>
            <a:r>
              <a:t>✓  5-10 minutes per drawing (11-phase automated pipeline)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4871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5F2F"/>
                </a:solidFill>
                <a:latin typeface="Calibri"/>
              </a:defRPr>
            </a:pPr>
            <a:r>
              <a:t>✓  Triple verification (Phase 5 + Phase 10 + Phase 11)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96265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5F2F"/>
                </a:solidFill>
                <a:latin typeface="Calibri"/>
              </a:defRPr>
            </a:pPr>
            <a:r>
              <a:t>✓  Any engineer can operate — upload and click analyze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43814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5F2F"/>
                </a:solidFill>
                <a:latin typeface="Calibri"/>
              </a:defRPr>
            </a:pPr>
            <a:r>
              <a:t>✓  Built-in verification eliminates manual review cycles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9136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5F2F"/>
                </a:solidFill>
                <a:latin typeface="Calibri"/>
              </a:defRPr>
            </a:pPr>
            <a:r>
              <a:t>✓  Standardized KBR &amp; Saudi Aramco Excel templates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389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5F2F"/>
                </a:solidFill>
                <a:latin typeface="Calibri"/>
              </a:defRPr>
            </a:pPr>
            <a:r>
              <a:t>✓  Automatic ISA-5.1 decoding for every instrument tag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8646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5F2F"/>
                </a:solidFill>
                <a:latin typeface="Calibri"/>
              </a:defRPr>
            </a:pPr>
            <a:r>
              <a:t>✓  JSON export for engineering database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534009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5F2F"/>
                </a:solidFill>
                <a:latin typeface="Calibri"/>
              </a:defRPr>
            </a:pPr>
            <a:r>
              <a:t>✓  AI cross-references safety data across all phases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090A0"/>
                </a:solidFill>
                <a:latin typeface="Calibri"/>
              </a:defRPr>
            </a:pPr>
            <a:r>
              <a:t>KBR-AMCDE  |  P&amp;ID Vision Analyzer  |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90A0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BUSINESS VALUE &amp;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A951"/>
                </a:solidFill>
                <a:latin typeface="Calibri"/>
              </a:defRPr>
            </a:pPr>
            <a:r>
              <a:t>Estimated Impact for a Typical EPC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011680" cy="50800"/>
          </a:xfrm>
          <a:prstGeom prst="rect">
            <a:avLst/>
          </a:prstGeom>
          <a:solidFill>
            <a:srgbClr val="0D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8A4A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A6A7E"/>
                </a:solidFill>
                <a:latin typeface="Calibri"/>
              </a:defRPr>
            </a:pPr>
            <a:r>
              <a:t>Time Reduction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371600"/>
            <a:ext cx="201168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0" y="1371600"/>
            <a:ext cx="2011680" cy="50800"/>
          </a:xfrm>
          <a:prstGeom prst="rect">
            <a:avLst/>
          </a:prstGeom>
          <a:solidFill>
            <a:srgbClr val="1A5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6002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5091"/>
                </a:solidFill>
                <a:latin typeface="Calibri"/>
              </a:defRPr>
            </a:pPr>
            <a:r>
              <a:t>50x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240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A6A7E"/>
                </a:solidFill>
                <a:latin typeface="Calibri"/>
              </a:defRPr>
            </a:pPr>
            <a:r>
              <a:t>Faster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371600"/>
            <a:ext cx="201168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371600"/>
            <a:ext cx="2011680" cy="508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16002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A70"/>
                </a:solidFill>
                <a:latin typeface="Calibri"/>
              </a:defRPr>
            </a:pPr>
            <a:r>
              <a:t>99%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240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A6A7E"/>
                </a:solidFill>
                <a:latin typeface="Calibri"/>
              </a:defRPr>
            </a:pPr>
            <a:r>
              <a:t>Data Capture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371600"/>
            <a:ext cx="201168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1371600"/>
            <a:ext cx="2011680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16002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8A951"/>
                </a:solidFill>
                <a:latin typeface="Calibri"/>
              </a:defRPr>
            </a:pPr>
            <a:r>
              <a:t>3x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240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A6A7E"/>
                </a:solidFill>
                <a:latin typeface="Calibri"/>
              </a:defRPr>
            </a:pPr>
            <a:r>
              <a:t>Verification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1371600"/>
            <a:ext cx="201168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1200" y="1371600"/>
            <a:ext cx="2011680" cy="50800"/>
          </a:xfrm>
          <a:prstGeom prst="rect">
            <a:avLst/>
          </a:prstGeom>
          <a:solidFill>
            <a:srgbClr val="C5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16002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52A2A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2240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A6A7E"/>
                </a:solidFill>
                <a:latin typeface="Calibri"/>
              </a:defRPr>
            </a:pPr>
            <a:r>
              <a:t>Manual Errors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20040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200400"/>
            <a:ext cx="63500" cy="13716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3101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A70"/>
                </a:solidFill>
                <a:latin typeface="Calibri"/>
              </a:defRPr>
            </a:pPr>
            <a:r>
              <a:t>Engineering Hours Saved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63931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A typical EPC project with 200+ P&amp;IDs: Manual extraction = 800-1,600 engineer-hours. With P&amp;ID Vision Analyzer = 30-60 hours (upload + review). Net savings: 750-1,500+ engineer-hours per project.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20040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200400"/>
            <a:ext cx="63500" cy="13716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3101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A70"/>
                </a:solidFill>
                <a:latin typeface="Calibri"/>
              </a:defRPr>
            </a:pPr>
            <a:r>
              <a:t>Quality Improvement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63931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Triple-verification pipeline (Phase 5 → Phase 10 → Phase 11) catches errors that manual reviews miss. Every valve, instrument, and line is counted at least twice independently.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75488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754880"/>
            <a:ext cx="63500" cy="13716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8646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A70"/>
                </a:solidFill>
                <a:latin typeface="Calibri"/>
              </a:defRPr>
            </a:pPr>
            <a:r>
              <a:t>Standardization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19379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Every project gets identical output formats — KBR Equipment List, Saudi Aramco Valve List, standard Line List. No more inconsistency between engineers or offices.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75488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4754880"/>
            <a:ext cx="63500" cy="13716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8646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A70"/>
                </a:solidFill>
                <a:latin typeface="Calibri"/>
              </a:defRPr>
            </a:pPr>
            <a:r>
              <a:t>Knowledge Democratization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19379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Junior engineers can now perform P&amp;ID data extraction that previously required years of experience. The AI assistant provides expert-level answers to any engineering question.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090A0"/>
                </a:solidFill>
                <a:latin typeface="Calibri"/>
              </a:defRPr>
            </a:pPr>
            <a:r>
              <a:t>KBR-AMCDE  |  P&amp;ID Vision Analyzer  |  Confidential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90A0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TECHNOLOGY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A951"/>
                </a:solidFill>
                <a:latin typeface="Calibri"/>
              </a:defRPr>
            </a:pPr>
            <a:r>
              <a:t>Modern, Scalable, Enterprise-Ready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76200" cy="10058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1645920" cy="3200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48132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332"/>
                </a:solidFill>
                <a:latin typeface="Calibri"/>
              </a:defRPr>
            </a:pPr>
            <a:r>
              <a:t>Multi-Page SPA  |  Sidebar Navigation  |  Canvas Charts  |  KBR-AMCDE Theme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84708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Vanilla JS, HTML5 Canvas, CSS3 — Zero external dependencies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11247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76200" cy="1005840"/>
          </a:xfrm>
          <a:prstGeom prst="rect">
            <a:avLst/>
          </a:prstGeom>
          <a:solidFill>
            <a:srgbClr val="1A5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697480"/>
            <a:ext cx="1645920" cy="320040"/>
          </a:xfrm>
          <a:prstGeom prst="rect">
            <a:avLst/>
          </a:prstGeom>
          <a:solidFill>
            <a:srgbClr val="1A5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97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REST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6700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332"/>
                </a:solidFill>
                <a:latin typeface="Calibri"/>
              </a:defRPr>
            </a:pPr>
            <a:r>
              <a:t>FastAPI Endpoints  |  Session Management  |  Background Tasks  |  CORS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03580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FastAPI 0.109 + Uvicorn — High-performance async Python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1247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49039"/>
            <a:ext cx="76200" cy="10058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886199"/>
            <a:ext cx="1645920" cy="3200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8619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AI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858767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332"/>
                </a:solidFill>
                <a:latin typeface="Calibri"/>
              </a:defRPr>
            </a:pPr>
            <a:r>
              <a:t>Gemini 2.5 Flash Vision  |  11 Expert Prompts  |  Retry Logic  |  JSON Parsing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224527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Google Gemini API — 32K token output, 0.05 temperature, 120s timeout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37760"/>
            <a:ext cx="11247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937760"/>
            <a:ext cx="76200" cy="100584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074920"/>
            <a:ext cx="1645920" cy="32004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074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PROCESSING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504748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2332"/>
                </a:solidFill>
                <a:latin typeface="Calibri"/>
              </a:defRPr>
            </a:pPr>
            <a:r>
              <a:t>PDF→Image (300 DPI)  |  ISA-5.1 Knowledge  |  Excel Generation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54132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Calibri"/>
              </a:defRPr>
            </a:pPr>
            <a:r>
              <a:t>PyMuPDF, Pillow, openpyxl — Professional engineering outputs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A70"/>
                </a:solidFill>
                <a:latin typeface="Calibri"/>
              </a:defRPr>
            </a:pPr>
            <a:r>
              <a:t>Upload PDF/Image  →  300 DPI Rendering  →  11 AI Phases (2s intervals)  →  JSON Parsing  →  Dashboard + Excel + Chat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090A0"/>
                </a:solidFill>
                <a:latin typeface="Calibri"/>
              </a:defRPr>
            </a:pPr>
            <a:r>
              <a:t>KBR-AMCDE  |  P&amp;ID Vision Analyzer  | 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90A0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NEXT STEPS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A951"/>
                </a:solidFill>
                <a:latin typeface="Calibri"/>
              </a:defRPr>
            </a:pPr>
            <a:r>
              <a:t>Scaling the Solution Across KBR-AMCDE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204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20440" cy="59436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  <a:br/>
            <a:r>
              <a:t>Current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3154680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332"/>
                </a:solidFill>
                <a:latin typeface="Calibri"/>
              </a:defRPr>
            </a:pPr>
            <a:r>
              <a:t>Single P&amp;ID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15768"/>
            <a:ext cx="3154680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61488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332"/>
                </a:solidFill>
                <a:latin typeface="Calibri"/>
              </a:defRPr>
            </a:pPr>
            <a:r>
              <a:t>11-phase AI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82695"/>
            <a:ext cx="3154680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28415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332"/>
                </a:solidFill>
                <a:latin typeface="Calibri"/>
              </a:defRPr>
            </a:pPr>
            <a:r>
              <a:t>Executive dashboard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49624"/>
            <a:ext cx="3154680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95344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332"/>
                </a:solidFill>
                <a:latin typeface="Calibri"/>
              </a:defRPr>
            </a:pPr>
            <a:r>
              <a:t>Excel exports (3 formats)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416552"/>
            <a:ext cx="3154680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462272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332"/>
                </a:solidFill>
                <a:latin typeface="Calibri"/>
              </a:defRPr>
            </a:pPr>
            <a:r>
              <a:t>AI Q&amp;A assistant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983480"/>
            <a:ext cx="3154680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0292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332"/>
                </a:solidFill>
                <a:latin typeface="Calibri"/>
              </a:defRPr>
            </a:pPr>
            <a:r>
              <a:t>Web-based SPA interface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1371600"/>
            <a:ext cx="35204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1371600"/>
            <a:ext cx="3520440" cy="594360"/>
          </a:xfrm>
          <a:prstGeom prst="rect">
            <a:avLst/>
          </a:prstGeom>
          <a:solidFill>
            <a:srgbClr val="1A5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60" y="144475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  <a:br/>
            <a:r>
              <a:t>Next Quarter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2148840"/>
            <a:ext cx="3154680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21945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332"/>
                </a:solidFill>
                <a:latin typeface="Calibri"/>
              </a:defRPr>
            </a:pPr>
            <a:r>
              <a:t>Multi-drawing batch processing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2715768"/>
            <a:ext cx="3154680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2761488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332"/>
                </a:solidFill>
                <a:latin typeface="Calibri"/>
              </a:defRPr>
            </a:pPr>
            <a:r>
              <a:t>Cross-P&amp;ID consistency checks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34840" y="3282695"/>
            <a:ext cx="3154680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3328415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332"/>
                </a:solidFill>
                <a:latin typeface="Calibri"/>
              </a:defRPr>
            </a:pPr>
            <a:r>
              <a:t>Database integration (SQL/API)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3849624"/>
            <a:ext cx="3154680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3895344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332"/>
                </a:solidFill>
                <a:latin typeface="Calibri"/>
              </a:defRPr>
            </a:pPr>
            <a:r>
              <a:t>User authentication &amp; roles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34840" y="4416552"/>
            <a:ext cx="3154680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4462272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332"/>
                </a:solidFill>
                <a:latin typeface="Calibri"/>
              </a:defRPr>
            </a:pPr>
            <a:r>
              <a:t>Drawing comparison (revision diff)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34840" y="4983480"/>
            <a:ext cx="3154680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50292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332"/>
                </a:solidFill>
                <a:latin typeface="Calibri"/>
              </a:defRPr>
            </a:pPr>
            <a:r>
              <a:t>Custom report templates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0" y="1371600"/>
            <a:ext cx="35204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46720" y="1371600"/>
            <a:ext cx="3520440" cy="5943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0" y="144475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  <a:br/>
            <a:r>
              <a:t>Future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2148840"/>
            <a:ext cx="3154680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21945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332"/>
                </a:solidFill>
                <a:latin typeface="Calibri"/>
              </a:defRPr>
            </a:pPr>
            <a:r>
              <a:t>Full project P&amp;ID set analysis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2715768"/>
            <a:ext cx="3154680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66760" y="2761488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332"/>
                </a:solidFill>
                <a:latin typeface="Calibri"/>
              </a:defRPr>
            </a:pPr>
            <a:r>
              <a:t>Auto-generate equipment datasheets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3282695"/>
            <a:ext cx="3154680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66760" y="3328415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332"/>
                </a:solidFill>
                <a:latin typeface="Calibri"/>
              </a:defRPr>
            </a:pPr>
            <a:r>
              <a:t>Integration with SmartPlant/AVEVA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3849624"/>
            <a:ext cx="3154680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66760" y="3895344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332"/>
                </a:solidFill>
                <a:latin typeface="Calibri"/>
              </a:defRPr>
            </a:pPr>
            <a:r>
              <a:t>Automated I/O list generation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4416552"/>
            <a:ext cx="3154680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66760" y="4462272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332"/>
                </a:solidFill>
                <a:latin typeface="Calibri"/>
              </a:defRPr>
            </a:pPr>
            <a:r>
              <a:t>Machine learning model fine-tuning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4983480"/>
            <a:ext cx="3154680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66760" y="50292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332"/>
                </a:solidFill>
                <a:latin typeface="Calibri"/>
              </a:defRPr>
            </a:pPr>
            <a:r>
              <a:t>Mobile app for field verification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090A0"/>
                </a:solidFill>
                <a:latin typeface="Calibri"/>
              </a:defRPr>
            </a:pPr>
            <a:r>
              <a:t>KBR-AMCDE  |  P&amp;ID Vision Analyzer  |  Confidential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090A0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381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P&amp;ID VISION ANALYZER</a:t>
            </a:r>
          </a:p>
          <a:p>
            <a:pPr algn="ctr">
              <a:spcAft>
                <a:spcPts val="400"/>
              </a:spcAft>
              <a:defRPr sz="2000" b="0">
                <a:solidFill>
                  <a:srgbClr val="4A90D9"/>
                </a:solidFill>
                <a:latin typeface="Calibri"/>
              </a:defRPr>
            </a:pPr>
            <a:r>
              <a:t>Transforming P&amp;ID Data Extraction with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C8A951"/>
                </a:solidFill>
                <a:latin typeface="Calibri"/>
              </a:defRPr>
            </a:pPr>
            <a:r>
              <a:t>Thank You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400"/>
              </a:spcAft>
              <a:defRPr sz="1800" b="0">
                <a:solidFill>
                  <a:srgbClr val="A0B5CC"/>
                </a:solidFill>
                <a:latin typeface="Calibri"/>
              </a:defRPr>
            </a:pPr>
            <a:r>
              <a:t>Questions &amp; Discussion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70859C"/>
                </a:solidFill>
                <a:latin typeface="Calibri"/>
              </a:defRPr>
            </a:pPr>
            <a:r>
              <a:t>KBR-AMCDE  |  Engineering &amp; Project Management Excellence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06070"/>
                </a:solidFill>
                <a:latin typeface="Calibri"/>
              </a:defRPr>
            </a:pPr>
            <a:r>
              <a:t>CONFIDENTIAL  —  KBR-AMCDE Internal  —  P&amp;ID Vision Analyzer v2.0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